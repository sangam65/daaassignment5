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9" r:id="rId3"/>
    <p:sldId id="257" r:id="rId4"/>
    <p:sldId id="291" r:id="rId5"/>
    <p:sldId id="294" r:id="rId6"/>
    <p:sldId id="280" r:id="rId7"/>
    <p:sldId id="285" r:id="rId8"/>
    <p:sldId id="287" r:id="rId9"/>
    <p:sldId id="290" r:id="rId10"/>
    <p:sldId id="292" r:id="rId11"/>
    <p:sldId id="293" r:id="rId12"/>
    <p:sldId id="288" r:id="rId13"/>
    <p:sldId id="284" r:id="rId14"/>
    <p:sldId id="289" r:id="rId15"/>
    <p:sldId id="269" r:id="rId16"/>
    <p:sldId id="264" r:id="rId17"/>
    <p:sldId id="283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70255C-5FDA-4F79-A280-0912CDE28B3F}">
          <p14:sldIdLst>
            <p14:sldId id="256"/>
            <p14:sldId id="279"/>
            <p14:sldId id="257"/>
            <p14:sldId id="291"/>
            <p14:sldId id="294"/>
            <p14:sldId id="280"/>
            <p14:sldId id="285"/>
            <p14:sldId id="287"/>
          </p14:sldIdLst>
        </p14:section>
        <p14:section name="Untitled Section" id="{08ADE71F-7112-4B08-89C6-81AE690908A6}">
          <p14:sldIdLst>
            <p14:sldId id="290"/>
            <p14:sldId id="292"/>
            <p14:sldId id="293"/>
            <p14:sldId id="288"/>
            <p14:sldId id="284"/>
            <p14:sldId id="289"/>
            <p14:sldId id="269"/>
            <p14:sldId id="264"/>
            <p14:sldId id="283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84799-DAC2-4E87-BBC6-C4278CFF2FD3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9B43B-0BA9-4257-8CDA-18681263DBC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9B43B-0BA9-4257-8CDA-18681263DBC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9B43B-0BA9-4257-8CDA-18681263DBC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FA906B3-C5E6-431E-B84A-717DF88A212C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DEBD57C-3053-41B2-9583-B2AB0E22D838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7290" y="857232"/>
            <a:ext cx="67866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ea typeface="Cambria" panose="02040503050406030204" pitchFamily="18" charset="0"/>
              </a:rPr>
              <a:t>Design And Analysis of Algorithms</a:t>
            </a:r>
          </a:p>
          <a:p>
            <a:pPr algn="ctr"/>
            <a:endParaRPr lang="en-US" sz="2400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ea typeface="Cambria" panose="02040503050406030204" pitchFamily="18" charset="0"/>
              </a:rPr>
              <a:t>Department of Information Technology</a:t>
            </a:r>
            <a:endParaRPr lang="en-US" sz="2400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Arial Rounded MT Bold" pitchFamily="34" charset="0"/>
                <a:ea typeface="Cambria" panose="02040503050406030204" pitchFamily="18" charset="0"/>
              </a:rPr>
              <a:t>-----Group Members-----</a:t>
            </a:r>
          </a:p>
          <a:p>
            <a:pPr algn="ctr"/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IN" b="1" dirty="0"/>
              <a:t>   Sangam Barnwal(IIT2019094)</a:t>
            </a:r>
          </a:p>
          <a:p>
            <a:pPr algn="ctr"/>
            <a:r>
              <a:rPr lang="en-IN" b="1" dirty="0"/>
              <a:t>  Sanjana Reddy    (IIT2019095)</a:t>
            </a:r>
          </a:p>
          <a:p>
            <a:pPr algn="ctr"/>
            <a:r>
              <a:rPr lang="en-IN" b="1" dirty="0"/>
              <a:t>  Riya Goyal            (IIT2019096)</a:t>
            </a:r>
          </a:p>
          <a:p>
            <a:pPr algn="ctr"/>
            <a:endParaRPr lang="en-US" dirty="0">
              <a:solidFill>
                <a:srgbClr val="C00000"/>
              </a:solidFill>
              <a:latin typeface="Arial Rounded MT Bold" pitchFamily="34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latin typeface="Arial Rounded MT Bold" pitchFamily="34" charset="0"/>
                <a:ea typeface="Cambria" panose="02040503050406030204" pitchFamily="18" charset="0"/>
              </a:rPr>
              <a:t>ASSIGNMENT-5 DEMOSTRATION</a:t>
            </a:r>
          </a:p>
          <a:p>
            <a:pPr algn="ctr"/>
            <a:endParaRPr lang="en-US" dirty="0">
              <a:latin typeface="Arial Rounded MT Bold" pitchFamily="34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271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062" y="2133273"/>
            <a:ext cx="6500858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 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Divide and Conquer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 Experimental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rial Rounded MT Bold" pitchFamily="34" charset="0"/>
                <a:cs typeface="Times New Roman" panose="02020603050405020304" pitchFamily="18" charset="0"/>
              </a:rPr>
              <a:t>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5430" y="1556792"/>
            <a:ext cx="65008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Given a large binary string, find the length of substring which is having</a:t>
            </a:r>
          </a:p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maximum difference of number of 0s and number of 1s (number of 0s –</a:t>
            </a:r>
          </a:p>
          <a:p>
            <a:pPr algn="ctr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number of 1s). In case of all 1s print -1.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Then we will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time complexity of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algorithm.We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will see a O(n) solution. </a:t>
            </a:r>
            <a:r>
              <a:rPr lang="en-US" sz="3200" dirty="0"/>
              <a:t>“</a:t>
            </a:r>
            <a:endParaRPr lang="en-US" sz="32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b="0" i="0" dirty="0">
                <a:effectLst/>
                <a:latin typeface="Arial" panose="020B0604020202020204" pitchFamily="34" charset="0"/>
              </a:rPr>
              <a:t>We have been given a binary string, we have to find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thelength</a:t>
            </a:r>
            <a:r>
              <a:rPr lang="en-IN" b="0" i="0" dirty="0">
                <a:effectLst/>
                <a:latin typeface="Arial" panose="020B0604020202020204" pitchFamily="34" charset="0"/>
              </a:rPr>
              <a:t> of substring which is having the maximum differ-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ence</a:t>
            </a:r>
            <a:r>
              <a:rPr lang="en-IN" b="0" i="0" dirty="0">
                <a:effectLst/>
                <a:latin typeface="Arial" panose="020B0604020202020204" pitchFamily="34" charset="0"/>
              </a:rPr>
              <a:t> of number of 0s and number of 1s. In this paper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wehave</a:t>
            </a:r>
            <a:r>
              <a:rPr lang="en-IN" b="0" i="0" dirty="0">
                <a:effectLst/>
                <a:latin typeface="Arial" panose="020B0604020202020204" pitchFamily="34" charset="0"/>
              </a:rPr>
              <a:t> used the concept of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Kadane</a:t>
            </a:r>
            <a:r>
              <a:rPr lang="en-IN" b="0" i="0" dirty="0">
                <a:effectLst/>
                <a:latin typeface="Arial" panose="020B0604020202020204" pitchFamily="34" charset="0"/>
              </a:rPr>
              <a:t> algorithm, which has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itsprime</a:t>
            </a:r>
            <a:r>
              <a:rPr lang="en-IN" b="0" i="0" dirty="0">
                <a:effectLst/>
                <a:latin typeface="Arial" panose="020B0604020202020204" pitchFamily="34" charset="0"/>
              </a:rPr>
              <a:t> importance, as it reduces the time complexity to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amuch</a:t>
            </a:r>
            <a:r>
              <a:rPr lang="en-IN" b="0" i="0" dirty="0">
                <a:effectLst/>
                <a:latin typeface="Arial" panose="020B0604020202020204" pitchFamily="34" charset="0"/>
              </a:rPr>
              <a:t> significant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extent.Because</a:t>
            </a:r>
            <a:r>
              <a:rPr lang="en-IN" b="0" i="0" dirty="0">
                <a:effectLst/>
                <a:latin typeface="Arial" panose="020B0604020202020204" pitchFamily="34" charset="0"/>
              </a:rPr>
              <a:t> of the way this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algorithmuses</a:t>
            </a:r>
            <a:r>
              <a:rPr lang="en-IN" b="0" i="0" dirty="0">
                <a:effectLst/>
                <a:latin typeface="Arial" panose="020B0604020202020204" pitchFamily="34" charset="0"/>
              </a:rPr>
              <a:t> optimal substructures (the maximum subarray end-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ing</a:t>
            </a:r>
            <a:r>
              <a:rPr lang="en-IN" b="0" i="0" dirty="0">
                <a:effectLst/>
                <a:latin typeface="Arial" panose="020B0604020202020204" pitchFamily="34" charset="0"/>
              </a:rPr>
              <a:t> at each position is calculated in a simple way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froma</a:t>
            </a:r>
            <a:r>
              <a:rPr lang="en-IN" b="0" i="0" dirty="0">
                <a:effectLst/>
                <a:latin typeface="Arial" panose="020B0604020202020204" pitchFamily="34" charset="0"/>
              </a:rPr>
              <a:t> related but smaller and overlapping subproblem: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themaximum</a:t>
            </a:r>
            <a:r>
              <a:rPr lang="en-IN" b="0" i="0" dirty="0">
                <a:effectLst/>
                <a:latin typeface="Arial" panose="020B0604020202020204" pitchFamily="34" charset="0"/>
              </a:rPr>
              <a:t> subarray ending at the previous position)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thisalgorithm</a:t>
            </a:r>
            <a:r>
              <a:rPr lang="en-IN" b="0" i="0" dirty="0">
                <a:effectLst/>
                <a:latin typeface="Arial" panose="020B0604020202020204" pitchFamily="34" charset="0"/>
              </a:rPr>
              <a:t> can be viewed as a simple example of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dynamicprogramming</a:t>
            </a:r>
            <a:r>
              <a:rPr lang="en-IN" b="0" i="0" dirty="0">
                <a:effectLst/>
                <a:latin typeface="Arial" panose="020B0604020202020204" pitchFamily="34" charset="0"/>
              </a:rPr>
              <a:t>. Our paper is based on dynamic program-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ming</a:t>
            </a:r>
            <a:r>
              <a:rPr lang="en-IN" b="0" i="0" dirty="0">
                <a:effectLst/>
                <a:latin typeface="Arial" panose="020B0604020202020204" pitchFamily="34" charset="0"/>
              </a:rPr>
              <a:t> and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Kadane</a:t>
            </a:r>
            <a:r>
              <a:rPr lang="en-IN" b="0" i="0" dirty="0">
                <a:effectLst/>
                <a:latin typeface="Arial" panose="020B0604020202020204" pitchFamily="34" charset="0"/>
              </a:rPr>
              <a:t> algorithm is a part of it, so we will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talkmore</a:t>
            </a:r>
            <a:r>
              <a:rPr lang="en-IN" b="0" i="0" dirty="0">
                <a:effectLst/>
                <a:latin typeface="Arial" panose="020B0604020202020204" pitchFamily="34" charset="0"/>
              </a:rPr>
              <a:t> about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Kadane</a:t>
            </a:r>
            <a:r>
              <a:rPr lang="en-IN" b="0" i="0" dirty="0">
                <a:effectLst/>
                <a:latin typeface="Arial" panose="020B0604020202020204" pitchFamily="34" charset="0"/>
              </a:rPr>
              <a:t>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algorith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8FE1-8473-40E4-AC06-096D3AF5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</a:t>
            </a:r>
            <a:r>
              <a:rPr lang="en-US" dirty="0"/>
              <a:t>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F777-5096-41A4-A350-B8CC17CC1F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Arial" panose="020B0604020202020204" pitchFamily="34" charset="0"/>
              </a:rPr>
              <a:t>The simple idea of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Kadane’s</a:t>
            </a:r>
            <a:r>
              <a:rPr lang="en-IN" b="0" i="0" dirty="0">
                <a:effectLst/>
                <a:latin typeface="Arial" panose="020B0604020202020204" pitchFamily="34" charset="0"/>
              </a:rPr>
              <a:t> al-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gorithm</a:t>
            </a:r>
            <a:r>
              <a:rPr lang="en-IN" b="0" i="0" dirty="0">
                <a:effectLst/>
                <a:latin typeface="Arial" panose="020B0604020202020204" pitchFamily="34" charset="0"/>
              </a:rPr>
              <a:t> is to look for all positive contiguous segments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ofthe</a:t>
            </a:r>
            <a:r>
              <a:rPr lang="en-IN" b="0" i="0" dirty="0">
                <a:effectLst/>
                <a:latin typeface="Arial" panose="020B0604020202020204" pitchFamily="34" charset="0"/>
              </a:rPr>
              <a:t> array (current-sum is used for this). And keep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trackof</a:t>
            </a:r>
            <a:r>
              <a:rPr lang="en-IN" b="0" i="0" dirty="0">
                <a:effectLst/>
                <a:latin typeface="Arial" panose="020B0604020202020204" pitchFamily="34" charset="0"/>
              </a:rPr>
              <a:t> maximum sum contiguous segment among all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positivesegments</a:t>
            </a:r>
            <a:r>
              <a:rPr lang="en-IN" b="0" i="0" dirty="0">
                <a:effectLst/>
                <a:latin typeface="Arial" panose="020B0604020202020204" pitchFamily="34" charset="0"/>
              </a:rPr>
              <a:t> (max-Sum is used for this). Each time we get </a:t>
            </a:r>
            <a:r>
              <a:rPr lang="en-IN" b="0" i="0" dirty="0" err="1">
                <a:effectLst/>
                <a:latin typeface="Arial" panose="020B0604020202020204" pitchFamily="34" charset="0"/>
              </a:rPr>
              <a:t>apositive</a:t>
            </a:r>
            <a:r>
              <a:rPr lang="en-IN" b="0" i="0" dirty="0">
                <a:effectLst/>
                <a:latin typeface="Arial" panose="020B0604020202020204" pitchFamily="34" charset="0"/>
              </a:rPr>
              <a:t>-sum compare it with max-Sum and update max-Sum if the positive-sum is greater than max-Sum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54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548680"/>
            <a:ext cx="689937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0" u="sng" dirty="0">
                <a:effectLst/>
                <a:latin typeface="Arial" panose="020B0604020202020204" pitchFamily="34" charset="0"/>
              </a:rPr>
              <a:t>Advantages of </a:t>
            </a:r>
            <a:r>
              <a:rPr lang="en-IN" sz="2000" b="1" i="0" u="sng" dirty="0" err="1">
                <a:effectLst/>
                <a:latin typeface="Arial" panose="020B0604020202020204" pitchFamily="34" charset="0"/>
              </a:rPr>
              <a:t>Kadane</a:t>
            </a:r>
            <a:r>
              <a:rPr lang="en-IN" sz="2000" b="1" i="0" u="sng" dirty="0">
                <a:effectLst/>
                <a:latin typeface="Arial" panose="020B0604020202020204" pitchFamily="34" charset="0"/>
              </a:rPr>
              <a:t> Algorithm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:</a:t>
            </a:r>
          </a:p>
          <a:p>
            <a:endParaRPr lang="en-IN" sz="2000" b="0" i="0" dirty="0">
              <a:effectLst/>
              <a:latin typeface="Arial" panose="020B0604020202020204" pitchFamily="34" charset="0"/>
            </a:endParaRPr>
          </a:p>
          <a:p>
            <a:r>
              <a:rPr lang="en-IN" sz="2000" b="0" i="0" dirty="0">
                <a:effectLst/>
                <a:latin typeface="Arial" panose="020B0604020202020204" pitchFamily="34" charset="0"/>
              </a:rPr>
              <a:t>The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KadaneAlgorithm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generally has following mentioned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advantagesover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Brute Force Algorithms.</a:t>
            </a:r>
          </a:p>
          <a:p>
            <a:endParaRPr lang="en-IN" sz="2000" b="0" i="0" dirty="0">
              <a:effectLst/>
              <a:latin typeface="Arial" panose="020B0604020202020204" pitchFamily="34" charset="0"/>
            </a:endParaRPr>
          </a:p>
          <a:p>
            <a:r>
              <a:rPr lang="en-IN" sz="2000" b="0" i="0" dirty="0">
                <a:effectLst/>
                <a:latin typeface="Arial" panose="020B0604020202020204" pitchFamily="34" charset="0"/>
              </a:rPr>
              <a:t>Time Efficiency. This approach generally reduces the running time of the algorithm because the running time of algorithm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basedon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Brute Force is in general high order in nature say quadratic. But when we are using the approach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basedon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Kadane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, this running time generally decreases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andbecomes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linear in nature.</a:t>
            </a:r>
          </a:p>
          <a:p>
            <a:endParaRPr lang="en-IN" sz="2000" b="0" i="0" dirty="0">
              <a:effectLst/>
              <a:latin typeface="Arial" panose="020B0604020202020204" pitchFamily="34" charset="0"/>
            </a:endParaRPr>
          </a:p>
          <a:p>
            <a:r>
              <a:rPr lang="en-IN" sz="2000" b="0" i="0" dirty="0">
                <a:effectLst/>
                <a:latin typeface="Arial" panose="020B0604020202020204" pitchFamily="34" charset="0"/>
              </a:rPr>
              <a:t>Space Efficiency: Space complexity is way less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here,we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only use O(1) space.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Kadane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Algorithm doesn’t 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usemuch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space, it just keeps track of maximum sum con-</a:t>
            </a:r>
            <a:r>
              <a:rPr lang="en-IN" sz="2000" b="0" i="0" dirty="0" err="1">
                <a:effectLst/>
                <a:latin typeface="Arial" panose="020B0604020202020204" pitchFamily="34" charset="0"/>
              </a:rPr>
              <a:t>tiguous</a:t>
            </a:r>
            <a:r>
              <a:rPr lang="en-IN" sz="2000" b="0" i="0" dirty="0">
                <a:effectLst/>
                <a:latin typeface="Arial" panose="020B0604020202020204" pitchFamily="34" charset="0"/>
              </a:rPr>
              <a:t> segment among all positive segments</a:t>
            </a:r>
            <a:endParaRPr lang="en-US" sz="2000" dirty="0">
              <a:solidFill>
                <a:srgbClr val="002060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435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Algorithmic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414" y="1500174"/>
            <a:ext cx="650085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Input the string s. Find the length of the string and store it in a variable named n</a:t>
            </a:r>
          </a:p>
          <a:p>
            <a:pPr marL="342900" indent="-342900">
              <a:buAutoNum type="arabicPeriod"/>
            </a:pPr>
            <a:r>
              <a:rPr lang="en-IN" dirty="0"/>
              <a:t>Create a function length which will find the maximum difference between the number of  zeroes and number of ones in the string.</a:t>
            </a:r>
          </a:p>
          <a:p>
            <a:pPr marL="342900" indent="-342900">
              <a:buAutoNum type="arabicPeriod"/>
            </a:pPr>
            <a:r>
              <a:rPr lang="en-IN" dirty="0"/>
              <a:t>Create two variables, lets call the first one current-sum and the other one max-sum.</a:t>
            </a:r>
          </a:p>
          <a:p>
            <a:pPr marL="342900" indent="-342900">
              <a:buAutoNum type="arabicPeriod"/>
            </a:pPr>
            <a:r>
              <a:rPr lang="en-IN" dirty="0"/>
              <a:t>Iterate the loop from 0 to the length of the string	If the current character in string is '0' we decrease current-sum otherwise we increase current-sum and after each iteration we check if the current-sum is less than 0 which means that there is no ‘0's present till that character we initialize current-sum=0 and then we check if current-sum is greater than max-sum and if it is, then we change the value of max-sum to current sum.  </a:t>
            </a:r>
          </a:p>
          <a:p>
            <a:pPr marL="342900" indent="-342900">
              <a:buAutoNum type="arabicPeriod"/>
            </a:pPr>
            <a:r>
              <a:rPr lang="en-IN" dirty="0"/>
              <a:t>Finally, we check if max-sum is 0 which means there is no '0's, then we have to make max-sum = -1 and we return the max-sum to the main function.</a:t>
            </a:r>
            <a:endParaRPr lang="en-US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587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Algorithmic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7624" y="1844824"/>
            <a:ext cx="69294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APRIORI ANALYSIS: We have tried to do the </a:t>
            </a:r>
            <a:r>
              <a:rPr lang="en-US" dirty="0" err="1"/>
              <a:t>Apriori</a:t>
            </a:r>
            <a:r>
              <a:rPr lang="en-US" dirty="0"/>
              <a:t> Analysis of the approach based on </a:t>
            </a:r>
            <a:r>
              <a:rPr lang="en-US" dirty="0" err="1"/>
              <a:t>kadane’s</a:t>
            </a:r>
            <a:r>
              <a:rPr lang="en-US" dirty="0"/>
              <a:t> </a:t>
            </a:r>
            <a:r>
              <a:rPr lang="en-US" dirty="0" err="1"/>
              <a:t>Algortihm</a:t>
            </a:r>
            <a:r>
              <a:rPr lang="en-US" dirty="0"/>
              <a:t>. Let T(n) and S(n) is the time and space respectively.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 COMPLEXITY DERIVATION: Let Time complexity of above algorithm be T(n). </a:t>
            </a:r>
          </a:p>
          <a:p>
            <a:r>
              <a:rPr lang="en-US" dirty="0">
                <a:latin typeface="Arial Rounded MT Bold" pitchFamily="34" charset="0"/>
              </a:rPr>
              <a:t>Time </a:t>
            </a:r>
            <a:r>
              <a:rPr lang="en-US" dirty="0" err="1">
                <a:latin typeface="Arial Rounded MT Bold" pitchFamily="34" charset="0"/>
              </a:rPr>
              <a:t>complexity:O</a:t>
            </a:r>
            <a:r>
              <a:rPr lang="en-US" dirty="0">
                <a:latin typeface="Arial Rounded MT Bold" pitchFamily="34" charset="0"/>
              </a:rPr>
              <a:t>(n)</a:t>
            </a:r>
          </a:p>
          <a:p>
            <a:endParaRPr lang="en-US" dirty="0">
              <a:latin typeface="Arial Rounded MT Bold" pitchFamily="34" charset="0"/>
            </a:endParaRPr>
          </a:p>
          <a:p>
            <a:r>
              <a:rPr lang="en-US" dirty="0">
                <a:latin typeface="Arial Rounded MT Bold" pitchFamily="34" charset="0"/>
              </a:rPr>
              <a:t>Space </a:t>
            </a:r>
            <a:r>
              <a:rPr lang="en-US" dirty="0" err="1">
                <a:latin typeface="Arial Rounded MT Bold" pitchFamily="34" charset="0"/>
              </a:rPr>
              <a:t>Complexity:O</a:t>
            </a:r>
            <a:r>
              <a:rPr lang="en-US" dirty="0">
                <a:latin typeface="Arial Rounded MT Bold" pitchFamily="34" charset="0"/>
              </a:rPr>
              <a:t>(1)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1752" y="177800"/>
            <a:ext cx="8534400" cy="802928"/>
          </a:xfrm>
        </p:spPr>
        <p:txBody>
          <a:bodyPr>
            <a:normAutofit/>
          </a:bodyPr>
          <a:lstStyle/>
          <a:p>
            <a:r>
              <a:rPr lang="en-US" sz="3200" b="1" dirty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908720"/>
            <a:ext cx="8503920" cy="519032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#include &lt;bits/</a:t>
            </a:r>
            <a:r>
              <a:rPr lang="en-IN" sz="2000" dirty="0" err="1"/>
              <a:t>stdc</a:t>
            </a:r>
            <a:r>
              <a:rPr lang="en-IN" sz="2000" dirty="0"/>
              <a:t>++.h&gt;</a:t>
            </a:r>
          </a:p>
          <a:p>
            <a:pPr marL="0" indent="0">
              <a:buNone/>
            </a:pPr>
            <a:r>
              <a:rPr lang="en-IN" sz="2000" dirty="0"/>
              <a:t>using namespace std;</a:t>
            </a:r>
          </a:p>
          <a:p>
            <a:pPr marL="0" indent="0">
              <a:buNone/>
            </a:pPr>
            <a:r>
              <a:rPr lang="en-IN" sz="2000" dirty="0"/>
              <a:t>int Length(string s, int n)</a:t>
            </a:r>
          </a:p>
          <a:p>
            <a:pPr marL="0" indent="0">
              <a:buNone/>
            </a:pPr>
            <a:r>
              <a:rPr lang="en-IN" sz="2000" dirty="0"/>
              <a:t>{	</a:t>
            </a:r>
          </a:p>
          <a:p>
            <a:pPr marL="0" indent="0">
              <a:buNone/>
            </a:pPr>
            <a:r>
              <a:rPr lang="en-IN" sz="2000" dirty="0"/>
              <a:t>int </a:t>
            </a:r>
            <a:r>
              <a:rPr lang="en-IN" sz="2000" dirty="0" err="1"/>
              <a:t>current_sum</a:t>
            </a:r>
            <a:r>
              <a:rPr lang="en-IN" sz="2000" dirty="0"/>
              <a:t> = 0;	</a:t>
            </a:r>
          </a:p>
          <a:p>
            <a:pPr marL="0" indent="0">
              <a:buNone/>
            </a:pPr>
            <a:r>
              <a:rPr lang="en-IN" sz="2000" dirty="0"/>
              <a:t>int </a:t>
            </a:r>
            <a:r>
              <a:rPr lang="en-IN" sz="2000" dirty="0" err="1"/>
              <a:t>max_sum</a:t>
            </a:r>
            <a:r>
              <a:rPr lang="en-IN" sz="2000" dirty="0"/>
              <a:t> = 0;	</a:t>
            </a:r>
          </a:p>
          <a:p>
            <a:pPr marL="0" indent="0">
              <a:buNone/>
            </a:pPr>
            <a:r>
              <a:rPr lang="en-IN" sz="2000" dirty="0"/>
              <a:t>for (int </a:t>
            </a:r>
            <a:r>
              <a:rPr lang="en-IN" sz="2000" dirty="0" err="1"/>
              <a:t>i</a:t>
            </a:r>
            <a:r>
              <a:rPr lang="en-IN" sz="2000" dirty="0"/>
              <a:t> = 0; </a:t>
            </a:r>
            <a:r>
              <a:rPr lang="en-IN" sz="2000" dirty="0" err="1"/>
              <a:t>i</a:t>
            </a:r>
            <a:r>
              <a:rPr lang="en-IN" sz="2000" dirty="0"/>
              <a:t> &lt; n; </a:t>
            </a:r>
            <a:r>
              <a:rPr lang="en-IN" sz="2000" dirty="0" err="1"/>
              <a:t>i</a:t>
            </a:r>
            <a:r>
              <a:rPr lang="en-IN" sz="2000" dirty="0"/>
              <a:t>++) </a:t>
            </a:r>
          </a:p>
          <a:p>
            <a:pPr marL="0" indent="0">
              <a:buNone/>
            </a:pPr>
            <a:r>
              <a:rPr lang="en-IN" sz="2000" dirty="0"/>
              <a:t>{				</a:t>
            </a:r>
          </a:p>
          <a:p>
            <a:pPr marL="0" indent="0">
              <a:buNone/>
            </a:pPr>
            <a:r>
              <a:rPr lang="en-IN" sz="2000" dirty="0"/>
              <a:t>	if(s[</a:t>
            </a:r>
            <a:r>
              <a:rPr lang="en-IN" sz="2000" dirty="0" err="1"/>
              <a:t>i</a:t>
            </a:r>
            <a:r>
              <a:rPr lang="en-IN" sz="2000" dirty="0"/>
              <a:t>]=='0')		  </a:t>
            </a:r>
          </a:p>
          <a:p>
            <a:pPr marL="0" indent="0">
              <a:buNone/>
            </a:pPr>
            <a:r>
              <a:rPr lang="en-IN" sz="2000" dirty="0"/>
              <a:t>		</a:t>
            </a:r>
            <a:r>
              <a:rPr lang="en-IN" sz="2000" dirty="0" err="1"/>
              <a:t>current_sum</a:t>
            </a:r>
            <a:r>
              <a:rPr lang="en-IN" sz="2000" dirty="0"/>
              <a:t> ++;		</a:t>
            </a:r>
          </a:p>
          <a:p>
            <a:pPr marL="0" indent="0">
              <a:buNone/>
            </a:pPr>
            <a:r>
              <a:rPr lang="en-IN" sz="2000" dirty="0"/>
              <a:t>	else		</a:t>
            </a:r>
          </a:p>
          <a:p>
            <a:pPr marL="0" indent="0">
              <a:buNone/>
            </a:pPr>
            <a:r>
              <a:rPr lang="en-IN" sz="2000" dirty="0"/>
              <a:t>   	</a:t>
            </a:r>
            <a:r>
              <a:rPr lang="en-IN" sz="2000" dirty="0" err="1"/>
              <a:t>current_sum</a:t>
            </a:r>
            <a:r>
              <a:rPr lang="en-IN" sz="2000" dirty="0"/>
              <a:t> --;		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4064" y="1556792"/>
            <a:ext cx="8534400" cy="4644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if (</a:t>
            </a:r>
            <a:r>
              <a:rPr lang="en-IN" sz="2400" dirty="0" err="1"/>
              <a:t>current_sum</a:t>
            </a:r>
            <a:r>
              <a:rPr lang="en-IN" sz="2400" dirty="0"/>
              <a:t> &lt; 0)			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dirty="0" err="1"/>
              <a:t>current_sum</a:t>
            </a:r>
            <a:r>
              <a:rPr lang="en-IN" sz="2400" dirty="0"/>
              <a:t> = 0;		</a:t>
            </a:r>
          </a:p>
          <a:p>
            <a:pPr marL="0" indent="0">
              <a:buNone/>
            </a:pPr>
            <a:r>
              <a:rPr lang="en-IN" sz="2400" dirty="0" err="1"/>
              <a:t>max_sum</a:t>
            </a:r>
            <a:r>
              <a:rPr lang="en-IN" sz="2400" dirty="0"/>
              <a:t> = max(</a:t>
            </a:r>
            <a:r>
              <a:rPr lang="en-IN" sz="2400" dirty="0" err="1"/>
              <a:t>current_sum</a:t>
            </a:r>
            <a:r>
              <a:rPr lang="en-IN" sz="2400" dirty="0"/>
              <a:t>, </a:t>
            </a:r>
            <a:r>
              <a:rPr lang="en-IN" sz="2400" dirty="0" err="1"/>
              <a:t>max_sum</a:t>
            </a:r>
            <a:r>
              <a:rPr lang="en-IN" sz="2400" dirty="0"/>
              <a:t>);	</a:t>
            </a:r>
          </a:p>
          <a:p>
            <a:pPr marL="0" indent="0">
              <a:buNone/>
            </a:pPr>
            <a:r>
              <a:rPr lang="en-IN" sz="2400" dirty="0"/>
              <a:t>}   </a:t>
            </a:r>
          </a:p>
          <a:p>
            <a:pPr marL="0" indent="0">
              <a:buNone/>
            </a:pPr>
            <a:r>
              <a:rPr lang="en-IN" sz="2400" dirty="0"/>
              <a:t> if(</a:t>
            </a:r>
            <a:r>
              <a:rPr lang="en-IN" sz="2400" dirty="0" err="1"/>
              <a:t>max_sum</a:t>
            </a:r>
            <a:r>
              <a:rPr lang="en-IN" sz="2400" dirty="0"/>
              <a:t>==0)  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dirty="0" err="1"/>
              <a:t>max_sum</a:t>
            </a:r>
            <a:r>
              <a:rPr lang="en-IN" sz="2400" dirty="0"/>
              <a:t>=-1;    </a:t>
            </a:r>
          </a:p>
          <a:p>
            <a:pPr marL="0" indent="0">
              <a:buNone/>
            </a:pPr>
            <a:r>
              <a:rPr lang="en-IN" sz="2400" dirty="0"/>
              <a:t>return </a:t>
            </a:r>
            <a:r>
              <a:rPr lang="en-IN" sz="2400" dirty="0" err="1"/>
              <a:t>max_sum</a:t>
            </a:r>
            <a:r>
              <a:rPr lang="en-IN" sz="2400" dirty="0"/>
              <a:t>;   </a:t>
            </a:r>
          </a:p>
          <a:p>
            <a:pPr marL="0" indent="0">
              <a:buNone/>
            </a:pPr>
            <a:r>
              <a:rPr lang="en-IN" sz="2400" dirty="0"/>
              <a:t> }</a:t>
            </a:r>
          </a:p>
          <a:p>
            <a:pPr marL="0" indent="0">
              <a:buNone/>
            </a:pP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int main()</a:t>
            </a:r>
          </a:p>
          <a:p>
            <a:pPr marL="0" indent="0">
              <a:buNone/>
            </a:pPr>
            <a:r>
              <a:rPr lang="en-IN" sz="2800" dirty="0"/>
              <a:t>{	</a:t>
            </a:r>
          </a:p>
          <a:p>
            <a:pPr marL="0" indent="0">
              <a:buNone/>
            </a:pPr>
            <a:r>
              <a:rPr lang="en-IN" sz="2800" dirty="0"/>
              <a:t>string s;	</a:t>
            </a:r>
          </a:p>
          <a:p>
            <a:pPr marL="0" indent="0">
              <a:buNone/>
            </a:pPr>
            <a:r>
              <a:rPr lang="en-IN" sz="2800" dirty="0" err="1"/>
              <a:t>cin</a:t>
            </a:r>
            <a:r>
              <a:rPr lang="en-IN" sz="2800" dirty="0"/>
              <a:t>&gt;&gt;s;		</a:t>
            </a:r>
          </a:p>
          <a:p>
            <a:pPr marL="0" indent="0">
              <a:buNone/>
            </a:pPr>
            <a:r>
              <a:rPr lang="en-IN" sz="2800" dirty="0"/>
              <a:t>int n;	n=</a:t>
            </a:r>
            <a:r>
              <a:rPr lang="en-IN" sz="2800" dirty="0" err="1"/>
              <a:t>s.size</a:t>
            </a:r>
            <a:r>
              <a:rPr lang="en-IN" sz="2800" dirty="0"/>
              <a:t>();		</a:t>
            </a:r>
          </a:p>
          <a:p>
            <a:pPr marL="0" indent="0">
              <a:buNone/>
            </a:pPr>
            <a:r>
              <a:rPr lang="en-IN" sz="2800" dirty="0"/>
              <a:t>int </a:t>
            </a:r>
            <a:r>
              <a:rPr lang="en-IN" sz="2800" dirty="0" err="1"/>
              <a:t>ans</a:t>
            </a:r>
            <a:r>
              <a:rPr lang="en-IN" sz="2800" dirty="0"/>
              <a:t>=Length(s, n);	</a:t>
            </a:r>
          </a:p>
          <a:p>
            <a:pPr marL="0" indent="0">
              <a:buNone/>
            </a:pPr>
            <a:r>
              <a:rPr lang="en-IN" sz="2800" dirty="0" err="1"/>
              <a:t>cout</a:t>
            </a:r>
            <a:r>
              <a:rPr lang="en-IN" sz="2800" dirty="0"/>
              <a:t> &lt;&lt; </a:t>
            </a:r>
            <a:r>
              <a:rPr lang="en-IN" sz="2800" dirty="0" err="1"/>
              <a:t>ans</a:t>
            </a:r>
            <a:r>
              <a:rPr lang="en-IN" sz="2800" dirty="0"/>
              <a:t> &lt;&lt; </a:t>
            </a:r>
            <a:r>
              <a:rPr lang="en-IN" sz="2800" dirty="0" err="1"/>
              <a:t>endl</a:t>
            </a:r>
            <a:r>
              <a:rPr lang="en-IN" sz="2800" dirty="0"/>
              <a:t>;	</a:t>
            </a:r>
          </a:p>
          <a:p>
            <a:pPr marL="0" indent="0">
              <a:buNone/>
            </a:pPr>
            <a:r>
              <a:rPr lang="en-IN" sz="2800" dirty="0"/>
              <a:t>return 0;</a:t>
            </a:r>
          </a:p>
          <a:p>
            <a:pPr marL="0" indent="0">
              <a:buNone/>
            </a:pPr>
            <a:r>
              <a:rPr lang="en-IN" sz="2800" dirty="0"/>
              <a:t>}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Time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100" y="1500174"/>
            <a:ext cx="67866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T(n) = O(n)</a:t>
            </a:r>
          </a:p>
          <a:p>
            <a:r>
              <a:rPr lang="en-IN" sz="2000" dirty="0"/>
              <a:t>Using above relation, we get for T/2, T/8 etc as:</a:t>
            </a:r>
          </a:p>
          <a:p>
            <a:r>
              <a:rPr lang="en-IN" sz="2000" dirty="0"/>
              <a:t> T(n/2) = T(n/2) + c </a:t>
            </a:r>
          </a:p>
          <a:p>
            <a:r>
              <a:rPr lang="en-IN" sz="2000" dirty="0"/>
              <a:t>T(n/4) = T(n/8) + c</a:t>
            </a:r>
          </a:p>
          <a:p>
            <a:r>
              <a:rPr lang="en-IN" sz="2000" dirty="0"/>
              <a:t>and so on. . . . . . . . . . </a:t>
            </a:r>
          </a:p>
          <a:p>
            <a:endParaRPr lang="en-IN" sz="2000" dirty="0"/>
          </a:p>
          <a:p>
            <a:r>
              <a:rPr lang="en-IN" sz="2000" dirty="0"/>
              <a:t>T(n)=T(n )+</a:t>
            </a:r>
            <a:r>
              <a:rPr lang="en-IN" sz="2000" dirty="0" err="1"/>
              <a:t>c+c+c</a:t>
            </a:r>
            <a:r>
              <a:rPr lang="en-IN" sz="2000" dirty="0"/>
              <a:t>...+c</a:t>
            </a:r>
          </a:p>
          <a:p>
            <a:r>
              <a:rPr lang="en-IN" sz="2000" dirty="0"/>
              <a:t> when n=2k ,T(n)=O(n)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231" y="477182"/>
            <a:ext cx="8215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Time Analysis                    O(n)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2865D-F910-4C07-9A2E-46D250A2A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340769"/>
            <a:ext cx="5596104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Space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100" y="1500174"/>
            <a:ext cx="67866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the experimental analysis, we found that in case of optimized approach, on increasing value of n (increasing the number of elements in array) the graph is constant. Thus the overall space remains same with an increase in no. of elements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4480" y="5715016"/>
            <a:ext cx="542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596" y="500042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Space Analysis                                O(1)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A577B-23D7-4D16-97A5-0662B2499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3" y="1142995"/>
            <a:ext cx="6400813" cy="45720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1538" y="2143116"/>
            <a:ext cx="67151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So, with the above mentioned algorithms and their profiling, we come to the conclusion that this problem of finding the length of substring which is having maximum </a:t>
            </a:r>
            <a:r>
              <a:rPr lang="en-US" sz="2000" dirty="0" err="1"/>
              <a:t>differnece</a:t>
            </a:r>
            <a:r>
              <a:rPr lang="en-US" sz="2000" dirty="0"/>
              <a:t> between number of zeroes and number of  ones is achieving its best time complexity of O(n) and space complexity of O(1).</a:t>
            </a:r>
            <a:endParaRPr lang="en-US" sz="2000" dirty="0">
              <a:solidFill>
                <a:srgbClr val="FF0000"/>
              </a:solidFill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642918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2976" y="1500174"/>
            <a:ext cx="67151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600" dirty="0"/>
              <a:t>1. Introduction to Dynamic Programming and </a:t>
            </a:r>
            <a:r>
              <a:rPr lang="en-US" sz="1600" dirty="0" err="1"/>
              <a:t>kadane’s</a:t>
            </a:r>
            <a:r>
              <a:rPr lang="en-US" sz="1600" dirty="0"/>
              <a:t> Algorithm: https://www.geeksforgeeks.org/divide-andconquer-algorithm-introduction/ </a:t>
            </a:r>
          </a:p>
          <a:p>
            <a:pPr marL="457200" indent="-457200">
              <a:buAutoNum type="arabicPeriod"/>
            </a:pP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2.       Introduction to Algorithms by </a:t>
            </a:r>
            <a:r>
              <a:rPr lang="en-US" sz="1600" dirty="0" err="1"/>
              <a:t>Cormen,Charles</a:t>
            </a:r>
            <a:r>
              <a:rPr lang="en-US" sz="1600" dirty="0"/>
              <a:t>, Rivest and Stein.</a:t>
            </a:r>
          </a:p>
          <a:p>
            <a:r>
              <a:rPr lang="en-US" sz="1600" dirty="0"/>
              <a:t>           https://</a:t>
            </a:r>
            <a:r>
              <a:rPr lang="en-US" sz="1600" dirty="0" err="1"/>
              <a:t>web.ist.utl.pt</a:t>
            </a:r>
            <a:r>
              <a:rPr lang="en-US" sz="1600" dirty="0"/>
              <a:t>/ </a:t>
            </a:r>
            <a:r>
              <a:rPr lang="en-US" sz="1600" dirty="0" err="1"/>
              <a:t>fabio.ferreira</a:t>
            </a:r>
            <a:r>
              <a:rPr lang="en-US" sz="1600" dirty="0"/>
              <a:t>/material/</a:t>
            </a:r>
            <a:r>
              <a:rPr lang="en-US" sz="1600" dirty="0" err="1"/>
              <a:t>asa</a:t>
            </a:r>
            <a:endParaRPr lang="en-US" sz="1600" dirty="0">
              <a:latin typeface="Arial Rounded MT Bold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642918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Rounded MT Bold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414" y="2285992"/>
            <a:ext cx="6858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rial Rounded MT Bold" pitchFamily="34" charset="0"/>
              </a:rPr>
              <a:t>THANK YOU !!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1145</Words>
  <Application>Microsoft Office PowerPoint</Application>
  <PresentationFormat>On-screen Show (4:3)</PresentationFormat>
  <Paragraphs>105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Rounded MT Bold</vt:lpstr>
      <vt:lpstr>Calibri</vt:lpstr>
      <vt:lpstr>Georgia</vt:lpstr>
      <vt:lpstr>Times New Roman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INTRODUCTION</vt:lpstr>
      <vt:lpstr>Kadane Algorithm</vt:lpstr>
      <vt:lpstr>PowerPoint Presentation</vt:lpstr>
      <vt:lpstr>PowerPoint Presentation</vt:lpstr>
      <vt:lpstr>PowerPoint Presentation</vt:lpstr>
      <vt:lpstr>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ANKUSH SONKER</dc:creator>
  <cp:lastModifiedBy>sangam barnwal</cp:lastModifiedBy>
  <cp:revision>57</cp:revision>
  <dcterms:created xsi:type="dcterms:W3CDTF">2021-01-21T10:29:00Z</dcterms:created>
  <dcterms:modified xsi:type="dcterms:W3CDTF">2021-03-30T04:45:12Z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1033-11.2.0.10017</vt:lpwstr>
  </property>
</Properties>
</file>